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C4E4FF-296A-4EC1-A552-ACE73FABAE74}"/>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50D609A3-3A4E-41F9-9AC2-7BCB17BD0B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7119058F-4876-4C02-AA05-9903CBCDC4CD}"/>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687FC7F0-6BCF-4B70-A201-6DAFDF44F30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9C474D-5440-48FA-9C6A-6D4B6E03D878}"/>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4100409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B03811-4D1D-42EE-AEF4-948C021862A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0EF28E8-064E-4956-9B8A-6F85BCB18FAC}"/>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D924F23-5240-4B15-AB3C-36E9A611DAA8}"/>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E1575B42-7C10-4F84-8DE5-F1D8D946358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DF24A35-0957-4197-A684-8B979B8FB03B}"/>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1071951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4AA188-D1B8-43AA-B541-6C21E8269B6F}"/>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8F47554-FCF7-4EAB-A93A-0166693143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0202B7CB-BF35-4AFA-A614-E52D84A479E7}"/>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4B33C568-5FDE-46E2-BAA5-36507C09A25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6061F03-48D3-4B9D-AA6A-BECED8BBAE2E}"/>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4066255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4D68FF-0143-4A74-BE6A-153A8B8065C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43B696A-E475-46CB-A1F3-113C95795457}"/>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FE37C51-7596-4F6E-8DEC-2757153FF0ED}"/>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FDF45742-267B-426C-A502-B834D48DEB20}"/>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6" name="Alt Bilgi Yer Tutucusu 5">
            <a:extLst>
              <a:ext uri="{FF2B5EF4-FFF2-40B4-BE49-F238E27FC236}">
                <a16:creationId xmlns:a16="http://schemas.microsoft.com/office/drawing/2014/main" id="{32C338C3-2207-4CE3-B5A2-97D2AA7A0C7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8255D4E-A1CA-4BD9-B58E-F4091CEBB9AE}"/>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1101749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4941B3-4E7A-4755-A105-4F5AD2DF0387}"/>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E4C0923-36DA-45F7-92D5-7FF415698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5E5E394-9D79-4DD3-93F2-FEAD5338956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9512F59-BEEA-4214-A3BB-C98B4318D9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AC6D0B19-F350-4624-95D6-A98441F28B6E}"/>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0111C0B5-5D14-4939-8817-C3C0D8A0B897}"/>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8" name="Alt Bilgi Yer Tutucusu 7">
            <a:extLst>
              <a:ext uri="{FF2B5EF4-FFF2-40B4-BE49-F238E27FC236}">
                <a16:creationId xmlns:a16="http://schemas.microsoft.com/office/drawing/2014/main" id="{0FBE209D-C4A5-455F-A291-BF47A0BB6FEB}"/>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2E8E2F9D-5FF1-4326-8E4C-A515FE820BA5}"/>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3227704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51BAC6-DE35-432E-8E2D-0B3B04B49A80}"/>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198BD4C1-1938-4B7F-A782-09E8AA2B7148}"/>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4" name="Alt Bilgi Yer Tutucusu 3">
            <a:extLst>
              <a:ext uri="{FF2B5EF4-FFF2-40B4-BE49-F238E27FC236}">
                <a16:creationId xmlns:a16="http://schemas.microsoft.com/office/drawing/2014/main" id="{30B163AC-08E5-4368-B657-3C5ABA2EAF11}"/>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4A027883-8207-4BAE-829A-E7CC5CF09BCD}"/>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1477827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8FA76330-97FB-48FC-A049-4F2A7C9EC93A}"/>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3" name="Alt Bilgi Yer Tutucusu 2">
            <a:extLst>
              <a:ext uri="{FF2B5EF4-FFF2-40B4-BE49-F238E27FC236}">
                <a16:creationId xmlns:a16="http://schemas.microsoft.com/office/drawing/2014/main" id="{875AAB48-624D-4ABC-B10B-FAAEB89BAAD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B03E3A2B-A086-474C-8E77-95BAC59D2DC1}"/>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1053989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A70674-F1EE-48F0-9930-7789019D15C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FACB9742-977B-4B86-A57E-50E5C6BF95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2FB6CA9E-2E20-4696-B640-5CF374570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7DF3AE6-E605-43D6-90F2-1F9755EC5462}"/>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6" name="Alt Bilgi Yer Tutucusu 5">
            <a:extLst>
              <a:ext uri="{FF2B5EF4-FFF2-40B4-BE49-F238E27FC236}">
                <a16:creationId xmlns:a16="http://schemas.microsoft.com/office/drawing/2014/main" id="{5C0C9C39-5D32-4D05-B8B9-66748FAF0A1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F44063E-B6B5-4A8D-82E3-DC91BCA34E35}"/>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876889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F49304A-B26D-407B-83F4-90210EABA18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65DF3D96-00AC-4427-A1E6-11F9626FB6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60A92169-7FEF-4751-8926-990BF4432A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4B9A7A3-B8C6-4885-B7D1-E12C3084FCF2}"/>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6" name="Alt Bilgi Yer Tutucusu 5">
            <a:extLst>
              <a:ext uri="{FF2B5EF4-FFF2-40B4-BE49-F238E27FC236}">
                <a16:creationId xmlns:a16="http://schemas.microsoft.com/office/drawing/2014/main" id="{3348E5D2-9C61-42E0-AC39-0F8A94B36985}"/>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23B561A-4C53-4DAA-AC5B-ACF6F977D6DC}"/>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130660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E79558-66F2-4625-A65E-BA5EDDDE8D48}"/>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230696D1-78F6-41B9-BBE2-ED535AE1232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CE37058-F35E-49AF-9D1B-10D2C93CF35A}"/>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88C9D6C9-8304-40D7-8496-D015B633247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EDF7B42-334F-47C9-8DB4-71C8F51C45B1}"/>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3175655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6F69C664-CFBA-40AF-A07E-06E289A5D07F}"/>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C87704B5-168B-49AD-B328-B04F1FCE7CFF}"/>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3520B6B-C542-417F-BA78-DB6FE9A59B67}"/>
              </a:ext>
            </a:extLst>
          </p:cNvPr>
          <p:cNvSpPr>
            <a:spLocks noGrp="1"/>
          </p:cNvSpPr>
          <p:nvPr>
            <p:ph type="dt" sz="half" idx="10"/>
          </p:nvPr>
        </p:nvSpPr>
        <p:spPr/>
        <p:txBody>
          <a:body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F857F3FF-63EB-4577-9B76-697CADAA891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756713A-EF8B-4FE8-8E84-A380AA5D8CB8}"/>
              </a:ext>
            </a:extLst>
          </p:cNvPr>
          <p:cNvSpPr>
            <a:spLocks noGrp="1"/>
          </p:cNvSpPr>
          <p:nvPr>
            <p:ph type="sldNum" sz="quarter" idx="12"/>
          </p:nvPr>
        </p:nvSpPr>
        <p:spPr/>
        <p:txBody>
          <a:bodyPr/>
          <a:lstStyle/>
          <a:p>
            <a:fld id="{CBC501E5-BC3E-45F6-AF8D-6C6F19C36A9A}" type="slidenum">
              <a:rPr lang="tr-TR" smtClean="0"/>
              <a:t>‹#›</a:t>
            </a:fld>
            <a:endParaRPr lang="tr-TR"/>
          </a:p>
        </p:txBody>
      </p:sp>
    </p:spTree>
    <p:extLst>
      <p:ext uri="{BB962C8B-B14F-4D97-AF65-F5344CB8AC3E}">
        <p14:creationId xmlns:p14="http://schemas.microsoft.com/office/powerpoint/2010/main" val="538441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C9981A8-2641-42DA-AFC6-D01EF02D9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327583C-B659-41A6-994C-FFBC172034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B2C8232-F592-4A7D-B3A8-C8275013F8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1FAEE4-12F0-4F1B-8082-72BDD06E52A2}" type="datetimeFigureOut">
              <a:rPr lang="tr-TR" smtClean="0"/>
              <a:t>18.05.2024</a:t>
            </a:fld>
            <a:endParaRPr lang="tr-TR"/>
          </a:p>
        </p:txBody>
      </p:sp>
      <p:sp>
        <p:nvSpPr>
          <p:cNvPr id="5" name="Alt Bilgi Yer Tutucusu 4">
            <a:extLst>
              <a:ext uri="{FF2B5EF4-FFF2-40B4-BE49-F238E27FC236}">
                <a16:creationId xmlns:a16="http://schemas.microsoft.com/office/drawing/2014/main" id="{155A9C3C-EDE5-4C91-A37E-1E27192B4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4034D01-92BE-4CAF-A1B4-DFF5295A5E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C501E5-BC3E-45F6-AF8D-6C6F19C36A9A}" type="slidenum">
              <a:rPr lang="tr-TR" smtClean="0"/>
              <a:t>‹#›</a:t>
            </a:fld>
            <a:endParaRPr lang="tr-TR"/>
          </a:p>
        </p:txBody>
      </p:sp>
    </p:spTree>
    <p:extLst>
      <p:ext uri="{BB962C8B-B14F-4D97-AF65-F5344CB8AC3E}">
        <p14:creationId xmlns:p14="http://schemas.microsoft.com/office/powerpoint/2010/main" val="1847401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245730F-C604-4701-B1BD-F5C0E4D6C8BD}"/>
              </a:ext>
            </a:extLst>
          </p:cNvPr>
          <p:cNvSpPr>
            <a:spLocks noGrp="1"/>
          </p:cNvSpPr>
          <p:nvPr>
            <p:ph type="ctrTitle"/>
          </p:nvPr>
        </p:nvSpPr>
        <p:spPr/>
        <p:txBody>
          <a:bodyPr/>
          <a:lstStyle/>
          <a:p>
            <a:r>
              <a:rPr lang="tr-TR" dirty="0"/>
              <a:t>Ortaçağ Avrupa'sında Tıp Tarihi</a:t>
            </a:r>
          </a:p>
        </p:txBody>
      </p:sp>
      <p:sp>
        <p:nvSpPr>
          <p:cNvPr id="3" name="Alt Başlık 2">
            <a:extLst>
              <a:ext uri="{FF2B5EF4-FFF2-40B4-BE49-F238E27FC236}">
                <a16:creationId xmlns:a16="http://schemas.microsoft.com/office/drawing/2014/main" id="{CBE13BFB-6E6E-4EDB-9C33-F784F8220459}"/>
              </a:ext>
            </a:extLst>
          </p:cNvPr>
          <p:cNvSpPr>
            <a:spLocks noGrp="1"/>
          </p:cNvSpPr>
          <p:nvPr>
            <p:ph type="subTitle" idx="1"/>
          </p:nvPr>
        </p:nvSpPr>
        <p:spPr>
          <a:xfrm>
            <a:off x="1524000" y="3999972"/>
            <a:ext cx="9144000" cy="1655762"/>
          </a:xfrm>
        </p:spPr>
        <p:txBody>
          <a:bodyPr/>
          <a:lstStyle/>
          <a:p>
            <a:r>
              <a:rPr lang="tr-TR" dirty="0"/>
              <a:t>Hasan Talha TETİK-2022279062</a:t>
            </a:r>
          </a:p>
        </p:txBody>
      </p:sp>
    </p:spTree>
    <p:extLst>
      <p:ext uri="{BB962C8B-B14F-4D97-AF65-F5344CB8AC3E}">
        <p14:creationId xmlns:p14="http://schemas.microsoft.com/office/powerpoint/2010/main" val="1916882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EBEB6B-29FB-4F87-96EA-C317C955F31E}"/>
              </a:ext>
            </a:extLst>
          </p:cNvPr>
          <p:cNvSpPr>
            <a:spLocks noGrp="1"/>
          </p:cNvSpPr>
          <p:nvPr>
            <p:ph type="title"/>
          </p:nvPr>
        </p:nvSpPr>
        <p:spPr>
          <a:xfrm>
            <a:off x="-1385018" y="311549"/>
            <a:ext cx="5477933" cy="778933"/>
          </a:xfrm>
        </p:spPr>
        <p:txBody>
          <a:bodyPr anchor="t">
            <a:normAutofit/>
          </a:bodyPr>
          <a:lstStyle/>
          <a:p>
            <a:pPr algn="ctr"/>
            <a:r>
              <a:rPr lang="tr-TR" sz="2000" b="1" dirty="0">
                <a:latin typeface="+mn-lt"/>
              </a:rPr>
              <a:t>1. Antik Bilgilerin Mirası</a:t>
            </a:r>
          </a:p>
        </p:txBody>
      </p:sp>
      <p:sp>
        <p:nvSpPr>
          <p:cNvPr id="4" name="Rectangle 1">
            <a:extLst>
              <a:ext uri="{FF2B5EF4-FFF2-40B4-BE49-F238E27FC236}">
                <a16:creationId xmlns:a16="http://schemas.microsoft.com/office/drawing/2014/main" id="{0B424245-CD40-4853-9A52-F93D0E6CDD8B}"/>
              </a:ext>
            </a:extLst>
          </p:cNvPr>
          <p:cNvSpPr>
            <a:spLocks noGrp="1" noChangeArrowheads="1"/>
          </p:cNvSpPr>
          <p:nvPr>
            <p:ph idx="1"/>
          </p:nvPr>
        </p:nvSpPr>
        <p:spPr bwMode="auto">
          <a:xfrm>
            <a:off x="0" y="1333155"/>
            <a:ext cx="10363200" cy="501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tr-TR" sz="1600" dirty="0"/>
          </a:p>
          <a:p>
            <a:r>
              <a:rPr lang="tr-TR" sz="1600" b="1" dirty="0"/>
              <a:t>Hipokrat</a:t>
            </a:r>
            <a:r>
              <a:rPr lang="tr-TR" sz="1600" dirty="0"/>
              <a:t> (M.Ö. 460-370)</a:t>
            </a:r>
          </a:p>
          <a:p>
            <a:r>
              <a:rPr lang="tr-TR" sz="1600" dirty="0"/>
              <a:t>Tıbbın babası olarak bilinir. Onun yazdığı "Hipokrat Yemini" ve tıbbi etik ilkeleri, Ortaçağ tıbbında büyük bir saygı gördü. Hipokrat, hastalıkların doğaüstü nedenlere değil, doğal nedenlere bağlı olduğunu savunarak tıpta rasyonel düşüncenin öncüsü oldu.</a:t>
            </a:r>
          </a:p>
          <a:p>
            <a:pPr>
              <a:buFont typeface="Arial" panose="020B0604020202020204" pitchFamily="34" charset="0"/>
              <a:buChar char="•"/>
            </a:pPr>
            <a:endParaRPr lang="tr-TR" sz="1600" dirty="0"/>
          </a:p>
          <a:p>
            <a:pPr>
              <a:buFont typeface="Arial" panose="020B0604020202020204" pitchFamily="34" charset="0"/>
              <a:buChar char="•"/>
            </a:pPr>
            <a:r>
              <a:rPr lang="tr-TR" sz="1600" b="1" dirty="0"/>
              <a:t>Galen</a:t>
            </a:r>
            <a:r>
              <a:rPr lang="tr-TR" sz="1600" dirty="0"/>
              <a:t> (M.S. 129-200)</a:t>
            </a:r>
          </a:p>
          <a:p>
            <a:pPr>
              <a:buFont typeface="Arial" panose="020B0604020202020204" pitchFamily="34" charset="0"/>
              <a:buChar char="•"/>
            </a:pPr>
            <a:r>
              <a:rPr lang="tr-TR" sz="1600" dirty="0"/>
              <a:t>Roma İmparatorluğu döneminde tıp dünyasında büyük bir etki yarattı. Onun anatomik çalışmaları ve fizyolojiye dair gözlemleri, Ortaçağ boyunca tıbbi eğitimde temel kaynaklar oldu. Galen'in "dört </a:t>
            </a:r>
            <a:r>
              <a:rPr lang="tr-TR" sz="1600" dirty="0" err="1"/>
              <a:t>humur</a:t>
            </a:r>
            <a:r>
              <a:rPr lang="tr-TR" sz="1600" dirty="0"/>
              <a:t> teorisi" (kan, balgam, sarı safra, kara safra) hastalıkların teşhisi ve tedavisinde temel bir rehber olarak kabul edildi.</a:t>
            </a:r>
          </a:p>
          <a:p>
            <a:pPr marL="0" indent="0">
              <a:buNone/>
            </a:pPr>
            <a:endParaRPr lang="tr-TR" sz="1600" dirty="0"/>
          </a:p>
          <a:p>
            <a:pPr>
              <a:buFont typeface="Arial" panose="020B0604020202020204" pitchFamily="34" charset="0"/>
              <a:buChar char="•"/>
            </a:pPr>
            <a:r>
              <a:rPr lang="tr-TR" sz="1600" b="1" dirty="0"/>
              <a:t>Bizans ve Batı Avrupa'da Bilgi Korunumu</a:t>
            </a:r>
            <a:r>
              <a:rPr lang="tr-TR" sz="1600" dirty="0"/>
              <a:t>:</a:t>
            </a:r>
          </a:p>
          <a:p>
            <a:pPr>
              <a:buFont typeface="Arial" panose="020B0604020202020204" pitchFamily="34" charset="0"/>
              <a:buChar char="•"/>
            </a:pPr>
            <a:r>
              <a:rPr lang="tr-TR" sz="1600" dirty="0"/>
              <a:t>Bizans İmparatorluğu, Antik Yunan ve Roma tıbbi metinlerini korudu ve bu metinlerin Batı Avrupa'ya yeniden tanıtılmasında önemli rol oynadı. </a:t>
            </a:r>
          </a:p>
          <a:p>
            <a:pPr>
              <a:buFont typeface="Arial" panose="020B0604020202020204" pitchFamily="34" charset="0"/>
              <a:buChar char="•"/>
            </a:pPr>
            <a:r>
              <a:rPr lang="tr-TR" sz="1600" dirty="0"/>
              <a:t>9. yüzyılda Bizans İmparatoru Leo VI'nın emriyle tıbbi metinler kopyalandı ve </a:t>
            </a:r>
            <a:r>
              <a:rPr lang="tr-TR" sz="1600" dirty="0" err="1"/>
              <a:t>derlendi.yüzyılda</a:t>
            </a:r>
            <a:r>
              <a:rPr lang="tr-TR" sz="1600" dirty="0"/>
              <a:t>, Charlemagne'nın (Şarlman) desteğiyle tıbbi metinlerin kopyalanması ve öğrenilmesi teşvik edildi. Bu dönemde, Avrupa'da manastırlar tıbbi bilginin merkezleri haline geldi ve rahipler tıbbi el yazmalarını kopyalayarak bilgiyi korudular.</a:t>
            </a:r>
          </a:p>
        </p:txBody>
      </p:sp>
    </p:spTree>
    <p:extLst>
      <p:ext uri="{BB962C8B-B14F-4D97-AF65-F5344CB8AC3E}">
        <p14:creationId xmlns:p14="http://schemas.microsoft.com/office/powerpoint/2010/main" val="3098997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A0A14F-282C-445E-B70E-C3FF3AC9AB95}"/>
              </a:ext>
            </a:extLst>
          </p:cNvPr>
          <p:cNvSpPr>
            <a:spLocks noGrp="1"/>
          </p:cNvSpPr>
          <p:nvPr>
            <p:ph type="title"/>
          </p:nvPr>
        </p:nvSpPr>
        <p:spPr>
          <a:xfrm>
            <a:off x="-449293" y="86264"/>
            <a:ext cx="3581400" cy="928688"/>
          </a:xfrm>
        </p:spPr>
        <p:txBody>
          <a:bodyPr>
            <a:normAutofit/>
          </a:bodyPr>
          <a:lstStyle/>
          <a:p>
            <a:pPr algn="ctr"/>
            <a:r>
              <a:rPr lang="tr-TR" sz="2000" b="1" dirty="0">
                <a:latin typeface="+mn-lt"/>
              </a:rPr>
              <a:t>2. Kilisenin Tıptaki Rolü</a:t>
            </a:r>
          </a:p>
        </p:txBody>
      </p:sp>
      <p:sp>
        <p:nvSpPr>
          <p:cNvPr id="3" name="İçerik Yer Tutucusu 2">
            <a:extLst>
              <a:ext uri="{FF2B5EF4-FFF2-40B4-BE49-F238E27FC236}">
                <a16:creationId xmlns:a16="http://schemas.microsoft.com/office/drawing/2014/main" id="{5EE4B867-DC7F-41B8-A6BE-8A7469FB0AAA}"/>
              </a:ext>
            </a:extLst>
          </p:cNvPr>
          <p:cNvSpPr>
            <a:spLocks noGrp="1"/>
          </p:cNvSpPr>
          <p:nvPr>
            <p:ph idx="1"/>
          </p:nvPr>
        </p:nvSpPr>
        <p:spPr>
          <a:xfrm>
            <a:off x="0" y="1251583"/>
            <a:ext cx="8462513" cy="5761693"/>
          </a:xfrm>
        </p:spPr>
        <p:txBody>
          <a:bodyPr>
            <a:normAutofit/>
          </a:bodyPr>
          <a:lstStyle/>
          <a:p>
            <a:r>
              <a:rPr lang="tr-TR" sz="1600" b="1" dirty="0"/>
              <a:t>Hastaneler ve Bakım Merkezleri</a:t>
            </a:r>
            <a:r>
              <a:rPr lang="tr-TR" sz="1600" dirty="0"/>
              <a:t>:</a:t>
            </a:r>
          </a:p>
          <a:p>
            <a:endParaRPr lang="tr-TR" sz="1600" dirty="0"/>
          </a:p>
          <a:p>
            <a:r>
              <a:rPr lang="tr-TR" sz="1600" dirty="0"/>
              <a:t>4. yüzyıldan itibaren, Hristiyan manastırları ve kiliseler, hastaneler ve bakım merkezleri kurarak tıbbi yardım sağlamaya başladı. İlk Hristiyan hastaneleri, hasta ve muhtaçlara bakım sağlamak amacıyla kuruldu. Bu hastaneler, özellikle fakirler, yetimler ve yaşlılar için önemli sağlık hizmetleri sunuyordu.</a:t>
            </a:r>
          </a:p>
          <a:p>
            <a:r>
              <a:rPr lang="tr-TR" sz="1600" dirty="0"/>
              <a:t>Aziz Benedikt'in (480-547) kuralları, manastırlarda hastaların bakımı için rehberlik sağladı. Benediktin manastırları, hem ruhsal hem de fiziksel iyileşmeye odaklanan sağlık merkezleri olarak hizmet verdi.</a:t>
            </a:r>
          </a:p>
          <a:p>
            <a:endParaRPr lang="tr-TR" sz="1600" dirty="0"/>
          </a:p>
          <a:p>
            <a:r>
              <a:rPr lang="tr-TR" sz="1600" b="1" dirty="0"/>
              <a:t>Şifalı Bitkiler ve Manastır Bahçeleri</a:t>
            </a:r>
            <a:r>
              <a:rPr lang="tr-TR" sz="1600" dirty="0"/>
              <a:t>:</a:t>
            </a:r>
          </a:p>
          <a:p>
            <a:endParaRPr lang="tr-TR" sz="1600" dirty="0"/>
          </a:p>
          <a:p>
            <a:r>
              <a:rPr lang="tr-TR" sz="1600" dirty="0"/>
              <a:t>Manastır bahçelerinde şifalı bitkiler yetiştirilirdi. Aziz Gallus Manastırı (İsviçre), bu tür bahçelerin önemli bir örneğidir. Bu bitkiler, rahipler tarafından tıbbi tedavilerde kullanılırdı. Ortaçağ boyunca, manastır bahçeleri tıbbi botanik bilgi merkezleri haline geldi.</a:t>
            </a:r>
          </a:p>
          <a:p>
            <a:r>
              <a:rPr lang="tr-TR" sz="1600" dirty="0"/>
              <a:t>Rahipler, bitkilerin şifalı özelliklerini öğrenmek ve öğretmek için botanik çalışmalar yürüttüler. "Capitulare de Villis" gibi manastır belgeleri, hangi bitkilerin yetiştirilmesi gerektiği ve nasıl kullanılacağı konusunda rehberlik sağladı.</a:t>
            </a:r>
          </a:p>
        </p:txBody>
      </p:sp>
    </p:spTree>
    <p:extLst>
      <p:ext uri="{BB962C8B-B14F-4D97-AF65-F5344CB8AC3E}">
        <p14:creationId xmlns:p14="http://schemas.microsoft.com/office/powerpoint/2010/main" val="46184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6EB0DA-9059-4BDF-AF1C-282191DACA81}"/>
              </a:ext>
            </a:extLst>
          </p:cNvPr>
          <p:cNvSpPr>
            <a:spLocks noGrp="1"/>
          </p:cNvSpPr>
          <p:nvPr>
            <p:ph type="title"/>
          </p:nvPr>
        </p:nvSpPr>
        <p:spPr>
          <a:xfrm>
            <a:off x="0" y="-126821"/>
            <a:ext cx="3329796" cy="1325563"/>
          </a:xfrm>
        </p:spPr>
        <p:txBody>
          <a:bodyPr>
            <a:normAutofit/>
          </a:bodyPr>
          <a:lstStyle/>
          <a:p>
            <a:r>
              <a:rPr lang="tr-TR" sz="2000" b="1" dirty="0">
                <a:latin typeface="+mn-lt"/>
              </a:rPr>
              <a:t>3. İslam Dünyasının Katkıları</a:t>
            </a:r>
          </a:p>
        </p:txBody>
      </p:sp>
      <p:sp>
        <p:nvSpPr>
          <p:cNvPr id="5" name="Rectangle 2">
            <a:extLst>
              <a:ext uri="{FF2B5EF4-FFF2-40B4-BE49-F238E27FC236}">
                <a16:creationId xmlns:a16="http://schemas.microsoft.com/office/drawing/2014/main" id="{3176003B-A358-45F0-BC0D-B6CA7B6454F6}"/>
              </a:ext>
            </a:extLst>
          </p:cNvPr>
          <p:cNvSpPr>
            <a:spLocks noGrp="1" noChangeArrowheads="1"/>
          </p:cNvSpPr>
          <p:nvPr>
            <p:ph idx="1"/>
          </p:nvPr>
        </p:nvSpPr>
        <p:spPr bwMode="auto">
          <a:xfrm>
            <a:off x="161925" y="948690"/>
            <a:ext cx="9153525"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rPr>
              <a:t>Çeviri Hareketi ve Bilgi Akışı: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rPr>
              <a:t> 8. yüzyıldan itibaren, Abbasi Halifesi Harun el-</a:t>
            </a:r>
            <a:r>
              <a:rPr kumimoji="0" lang="tr-TR" altLang="tr-TR" sz="1400" b="0" i="0" u="none" strike="noStrike" cap="none" normalizeH="0" baseline="0" dirty="0" err="1">
                <a:ln>
                  <a:noFill/>
                </a:ln>
                <a:solidFill>
                  <a:schemeClr val="tx1"/>
                </a:solidFill>
                <a:effectLst/>
              </a:rPr>
              <a:t>Reşid</a:t>
            </a:r>
            <a:r>
              <a:rPr kumimoji="0" lang="tr-TR" altLang="tr-TR" sz="1400" b="0" i="0" u="none" strike="noStrike" cap="none" normalizeH="0" baseline="0" dirty="0">
                <a:ln>
                  <a:noFill/>
                </a:ln>
                <a:solidFill>
                  <a:schemeClr val="tx1"/>
                </a:solidFill>
                <a:effectLst/>
              </a:rPr>
              <a:t> döneminde, Yunan tıbbi metinleri </a:t>
            </a:r>
            <a:r>
              <a:rPr kumimoji="0" lang="tr-TR" altLang="tr-TR" sz="1400" b="0" i="0" u="none" strike="noStrike" cap="none" normalizeH="0" baseline="0" dirty="0" err="1">
                <a:ln>
                  <a:noFill/>
                </a:ln>
                <a:solidFill>
                  <a:schemeClr val="tx1"/>
                </a:solidFill>
                <a:effectLst/>
              </a:rPr>
              <a:t>Arapça'ya</a:t>
            </a:r>
            <a:r>
              <a:rPr kumimoji="0" lang="tr-TR" altLang="tr-TR" sz="1400" b="0" i="0" u="none" strike="noStrike" cap="none" normalizeH="0" baseline="0" dirty="0">
                <a:ln>
                  <a:noFill/>
                </a:ln>
                <a:solidFill>
                  <a:schemeClr val="tx1"/>
                </a:solidFill>
                <a:effectLst/>
              </a:rPr>
              <a:t> çevrildi. Bu çeviri hareketi, </a:t>
            </a:r>
            <a:r>
              <a:rPr kumimoji="0" lang="tr-TR" altLang="tr-TR" sz="1400" b="0" i="0" u="none" strike="noStrike" cap="none" normalizeH="0" baseline="0" dirty="0" err="1">
                <a:ln>
                  <a:noFill/>
                </a:ln>
                <a:solidFill>
                  <a:schemeClr val="tx1"/>
                </a:solidFill>
                <a:effectLst/>
              </a:rPr>
              <a:t>Bagdat'ta</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Beytül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Hikme</a:t>
            </a:r>
            <a:r>
              <a:rPr kumimoji="0" lang="tr-TR" altLang="tr-TR" sz="1400" b="0" i="0" u="none" strike="noStrike" cap="none" normalizeH="0" baseline="0" dirty="0">
                <a:ln>
                  <a:noFill/>
                </a:ln>
                <a:solidFill>
                  <a:schemeClr val="tx1"/>
                </a:solidFill>
                <a:effectLst/>
              </a:rPr>
              <a:t>" (Bilgelik Evi) adı verilen bir akademik merkezde yoğunlaştı. Bu merkezde, Yunan, Pers ve Hint tıbbı üzerine çalışmalar yapıldı.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rPr>
              <a:t>Bu bilgiler, İslam dünyasında geniş bir tıbbi literatürün oluşmasına yol açtı. İslam tıbbı, hem teorik hem de pratik bilgileri içeren geniş bir bilgi birikimi sağladı.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rPr>
              <a:t>Önemli İslam Bilginleri: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rPr>
              <a:t>İbn Sina (</a:t>
            </a:r>
            <a:r>
              <a:rPr kumimoji="0" lang="tr-TR" altLang="tr-TR" sz="1400" b="0" i="0" u="none" strike="noStrike" cap="none" normalizeH="0" baseline="0" dirty="0" err="1">
                <a:ln>
                  <a:noFill/>
                </a:ln>
                <a:solidFill>
                  <a:schemeClr val="tx1"/>
                </a:solidFill>
                <a:effectLst/>
              </a:rPr>
              <a:t>Avicenna</a:t>
            </a:r>
            <a:r>
              <a:rPr kumimoji="0" lang="tr-TR" altLang="tr-TR" sz="1400" b="0" i="0" u="none" strike="noStrike" cap="none" normalizeH="0" baseline="0" dirty="0">
                <a:ln>
                  <a:noFill/>
                </a:ln>
                <a:solidFill>
                  <a:schemeClr val="tx1"/>
                </a:solidFill>
                <a:effectLst/>
              </a:rPr>
              <a:t>) (980-1037), "Kanun </a:t>
            </a:r>
            <a:r>
              <a:rPr kumimoji="0" lang="tr-TR" altLang="tr-TR" sz="1400" b="0" i="0" u="none" strike="noStrike" cap="none" normalizeH="0" baseline="0" dirty="0" err="1">
                <a:ln>
                  <a:noFill/>
                </a:ln>
                <a:solidFill>
                  <a:schemeClr val="tx1"/>
                </a:solidFill>
                <a:effectLst/>
              </a:rPr>
              <a:t>fi't-Tıbb</a:t>
            </a:r>
            <a:r>
              <a:rPr kumimoji="0" lang="tr-TR" altLang="tr-TR" sz="1400" b="0" i="0" u="none" strike="noStrike" cap="none" normalizeH="0" baseline="0" dirty="0">
                <a:ln>
                  <a:noFill/>
                </a:ln>
                <a:solidFill>
                  <a:schemeClr val="tx1"/>
                </a:solidFill>
                <a:effectLst/>
              </a:rPr>
              <a:t>" adlı eseriyle tıp dünyasında büyük bir etki yarattı. Bu eser, Avrupa'da ve İslam dünyasında tıbbi eğitimin temel taşlarından biri oldu. İbn Sina, hastalıkların teşhisi ve tedavisi konusunda kapsamlı bilgiler sunmuş ve birçok hastalığın tanımını yapmıştır.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rPr>
              <a:t>El-Razi (Rhazes) (865-925), "</a:t>
            </a:r>
            <a:r>
              <a:rPr kumimoji="0" lang="tr-TR" altLang="tr-TR" sz="1400" b="0" i="0" u="none" strike="noStrike" cap="none" normalizeH="0" baseline="0" dirty="0" err="1">
                <a:ln>
                  <a:noFill/>
                </a:ln>
                <a:solidFill>
                  <a:schemeClr val="tx1"/>
                </a:solidFill>
                <a:effectLst/>
              </a:rPr>
              <a:t>Kitab</a:t>
            </a:r>
            <a:r>
              <a:rPr kumimoji="0" lang="tr-TR" altLang="tr-TR" sz="1400" b="0" i="0" u="none" strike="noStrike" cap="none" normalizeH="0" baseline="0" dirty="0">
                <a:ln>
                  <a:noFill/>
                </a:ln>
                <a:solidFill>
                  <a:schemeClr val="tx1"/>
                </a:solidFill>
                <a:effectLst/>
              </a:rPr>
              <a:t> al-</a:t>
            </a:r>
            <a:r>
              <a:rPr kumimoji="0" lang="tr-TR" altLang="tr-TR" sz="1400" b="0" i="0" u="none" strike="noStrike" cap="none" normalizeH="0" baseline="0" dirty="0" err="1">
                <a:ln>
                  <a:noFill/>
                </a:ln>
                <a:solidFill>
                  <a:schemeClr val="tx1"/>
                </a:solidFill>
                <a:effectLst/>
              </a:rPr>
              <a:t>Hawi</a:t>
            </a:r>
            <a:r>
              <a:rPr kumimoji="0" lang="tr-TR" altLang="tr-TR" sz="1400" b="0" i="0" u="none" strike="noStrike" cap="none" normalizeH="0" baseline="0" dirty="0">
                <a:ln>
                  <a:noFill/>
                </a:ln>
                <a:solidFill>
                  <a:schemeClr val="tx1"/>
                </a:solidFill>
                <a:effectLst/>
              </a:rPr>
              <a:t>" adlı eserinde kapsamlı tıbbi bilgiler sundu. Rhazes, klinik gözlemler ve deneyler yaparak tıpta ampirik bir yaklaşımı benimsedi. Çiçek hastalığı ve kızamık gibi hastalıkların ayırt edilmesine yönelik çalışmalarıyla tanınır.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rPr>
              <a:t>Bilginin Batı'ya Geçişi: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err="1">
                <a:ln>
                  <a:noFill/>
                </a:ln>
                <a:solidFill>
                  <a:schemeClr val="tx1"/>
                </a:solidFill>
                <a:effectLst/>
              </a:rPr>
              <a:t>Toledo</a:t>
            </a:r>
            <a:r>
              <a:rPr kumimoji="0" lang="tr-TR" altLang="tr-TR" sz="1400" b="0" i="0" u="none" strike="noStrike" cap="none" normalizeH="0" baseline="0" dirty="0">
                <a:ln>
                  <a:noFill/>
                </a:ln>
                <a:solidFill>
                  <a:schemeClr val="tx1"/>
                </a:solidFill>
                <a:effectLst/>
              </a:rPr>
              <a:t> Çeviri Hareketi (12. yüzyıl), İspanya'da </a:t>
            </a:r>
            <a:r>
              <a:rPr kumimoji="0" lang="tr-TR" altLang="tr-TR" sz="1400" b="0" i="0" u="none" strike="noStrike" cap="none" normalizeH="0" baseline="0" dirty="0" err="1">
                <a:ln>
                  <a:noFill/>
                </a:ln>
                <a:solidFill>
                  <a:schemeClr val="tx1"/>
                </a:solidFill>
                <a:effectLst/>
              </a:rPr>
              <a:t>Arapça'dan</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Latince'ye</a:t>
            </a:r>
            <a:r>
              <a:rPr kumimoji="0" lang="tr-TR" altLang="tr-TR" sz="1400" b="0" i="0" u="none" strike="noStrike" cap="none" normalizeH="0" baseline="0" dirty="0">
                <a:ln>
                  <a:noFill/>
                </a:ln>
                <a:solidFill>
                  <a:schemeClr val="tx1"/>
                </a:solidFill>
                <a:effectLst/>
              </a:rPr>
              <a:t> çevirilerle İslam tıbbını Batı Avrupa'ya taşıdı. </a:t>
            </a:r>
            <a:r>
              <a:rPr kumimoji="0" lang="tr-TR" altLang="tr-TR" sz="1400" b="0" i="0" u="none" strike="noStrike" cap="none" normalizeH="0" baseline="0" dirty="0" err="1">
                <a:ln>
                  <a:noFill/>
                </a:ln>
                <a:solidFill>
                  <a:schemeClr val="tx1"/>
                </a:solidFill>
                <a:effectLst/>
              </a:rPr>
              <a:t>Toledo</a:t>
            </a:r>
            <a:r>
              <a:rPr kumimoji="0" lang="tr-TR" altLang="tr-TR" sz="1400" b="0" i="0" u="none" strike="noStrike" cap="none" normalizeH="0" baseline="0" dirty="0">
                <a:ln>
                  <a:noFill/>
                </a:ln>
                <a:solidFill>
                  <a:schemeClr val="tx1"/>
                </a:solidFill>
                <a:effectLst/>
              </a:rPr>
              <a:t>, İslam dünyasından gelen tıbbi bilgilerin Batı'ya aktarılması için önemli bir merkez haline geldi.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rPr>
              <a:t>Bu çeviriler, Salerno Tıp Okulu ve diğer Batı Avrupa merkezlerinde kullanıldı. Böylece, İslam tıbbının teorik ve pratik bilgileri, Avrupa tıp eğitiminde temel kaynaklar haline geldi.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943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477D0C-88C4-4FE1-8416-8B7DE53A3026}"/>
              </a:ext>
            </a:extLst>
          </p:cNvPr>
          <p:cNvSpPr>
            <a:spLocks noGrp="1"/>
          </p:cNvSpPr>
          <p:nvPr>
            <p:ph type="title"/>
          </p:nvPr>
        </p:nvSpPr>
        <p:spPr>
          <a:xfrm>
            <a:off x="0" y="103981"/>
            <a:ext cx="2495550" cy="962820"/>
          </a:xfrm>
        </p:spPr>
        <p:txBody>
          <a:bodyPr>
            <a:normAutofit/>
          </a:bodyPr>
          <a:lstStyle/>
          <a:p>
            <a:r>
              <a:rPr lang="tr-TR" sz="2000" b="1" dirty="0">
                <a:latin typeface="+mn-lt"/>
              </a:rPr>
              <a:t>4. Salerno Tıp Okulu</a:t>
            </a:r>
          </a:p>
        </p:txBody>
      </p:sp>
      <p:sp>
        <p:nvSpPr>
          <p:cNvPr id="3" name="İçerik Yer Tutucusu 2">
            <a:extLst>
              <a:ext uri="{FF2B5EF4-FFF2-40B4-BE49-F238E27FC236}">
                <a16:creationId xmlns:a16="http://schemas.microsoft.com/office/drawing/2014/main" id="{95780061-3F11-4C26-9A52-97FFFC2E60E9}"/>
              </a:ext>
            </a:extLst>
          </p:cNvPr>
          <p:cNvSpPr>
            <a:spLocks noGrp="1"/>
          </p:cNvSpPr>
          <p:nvPr>
            <p:ph idx="1"/>
          </p:nvPr>
        </p:nvSpPr>
        <p:spPr>
          <a:xfrm>
            <a:off x="-1" y="1162050"/>
            <a:ext cx="10820401" cy="5695950"/>
          </a:xfrm>
        </p:spPr>
        <p:txBody>
          <a:bodyPr>
            <a:noAutofit/>
          </a:bodyPr>
          <a:lstStyle/>
          <a:p>
            <a:pPr>
              <a:buFont typeface="Arial" panose="020B0604020202020204" pitchFamily="34" charset="0"/>
              <a:buChar char="•"/>
            </a:pPr>
            <a:r>
              <a:rPr lang="tr-TR" sz="1600" b="1" dirty="0"/>
              <a:t>Kuruluş ve Etkisi:</a:t>
            </a:r>
            <a:endParaRPr lang="tr-TR" sz="1600" dirty="0"/>
          </a:p>
          <a:p>
            <a:pPr marL="457200" lvl="1" indent="0">
              <a:buNone/>
            </a:pPr>
            <a:r>
              <a:rPr lang="tr-TR" sz="1600" dirty="0"/>
              <a:t>11. yüzyılda İtalya'da kurulan Salerno Tıp Okulu, Avrupa'nın ilk tıp okuluydu. Salerno, çeşitli tıbbi gelenekleri bir araya getirerek hem Hristiyan hem de Müslüman dünyasından gelen tıbbi bilgileri sentezledi.</a:t>
            </a:r>
          </a:p>
          <a:p>
            <a:pPr marL="457200" lvl="1" indent="0">
              <a:buNone/>
            </a:pPr>
            <a:r>
              <a:rPr lang="tr-TR" sz="1600" dirty="0"/>
              <a:t>Bu okul, modern tıbbın temellerini atarak Avrupa'da tıp eğitiminin merkezi haline geldi. Salerno'nun itibarı, Avrupa'nın dört bir yanından öğrencilerin ve doktorların buraya akın etmesine neden oldu.</a:t>
            </a:r>
          </a:p>
          <a:p>
            <a:pPr>
              <a:buFont typeface="Arial" panose="020B0604020202020204" pitchFamily="34" charset="0"/>
              <a:buChar char="•"/>
            </a:pPr>
            <a:r>
              <a:rPr lang="tr-TR" sz="1600" b="1" dirty="0"/>
              <a:t>Bilgi Sentezi:</a:t>
            </a:r>
            <a:endParaRPr lang="tr-TR" sz="1600" dirty="0"/>
          </a:p>
          <a:p>
            <a:pPr marL="457200" lvl="1" indent="0">
              <a:buNone/>
            </a:pPr>
            <a:r>
              <a:rPr lang="tr-TR" sz="1600" dirty="0"/>
              <a:t>Salerno Tıp Okulu, antik Yunan ve Roma tıbbını İslam dünyasından gelen bilgilerle harmanladı. Bu sentez, tıp öğrencilerine geniş ve kapsamlı bir bilgi tabanı sağladı.</a:t>
            </a:r>
          </a:p>
          <a:p>
            <a:pPr marL="457200" lvl="1" indent="0">
              <a:buNone/>
            </a:pPr>
            <a:r>
              <a:rPr lang="tr-TR" sz="1600" dirty="0"/>
              <a:t>Okulda, Galen ve Hipokrat'ın yanı sıra, İbn Sina ve Rhazes gibi İslam dünyasının önde gelen tıbbi metinleri de okutuluyordu.</a:t>
            </a:r>
          </a:p>
          <a:p>
            <a:pPr>
              <a:buFont typeface="Arial" panose="020B0604020202020204" pitchFamily="34" charset="0"/>
              <a:buChar char="•"/>
            </a:pPr>
            <a:r>
              <a:rPr lang="tr-TR" sz="1600" b="1" dirty="0"/>
              <a:t>Kadınların Rolü:</a:t>
            </a:r>
            <a:endParaRPr lang="tr-TR" sz="1600" dirty="0"/>
          </a:p>
          <a:p>
            <a:pPr marL="457200" lvl="1" indent="0">
              <a:buNone/>
            </a:pPr>
            <a:r>
              <a:rPr lang="tr-TR" sz="1600" dirty="0"/>
              <a:t>Salerno Tıp Okulu'nda kadınlar da eğitim alabiliyor ve doktor olarak çalışabiliyordu. Bu, o dönemde nadir görülen bir durumdu ve Salerno'nun ilerici bir eğitim yaklaşımına sahip olduğunu gösteriyordu.</a:t>
            </a:r>
          </a:p>
          <a:p>
            <a:pPr marL="457200" lvl="1" indent="0">
              <a:buNone/>
            </a:pPr>
            <a:r>
              <a:rPr lang="tr-TR" sz="1600" dirty="0"/>
              <a:t>Trotula adında ünlü bir kadın doktor, kadın hastalıkları üzerine önemli eserler yazdı. Trotula'nın çalışmaları, kadın sağlığına dair önemli bilgiler sunuyordu ve uzun yıllar boyunca tıbbi literatürde yer aldı.</a:t>
            </a:r>
          </a:p>
          <a:p>
            <a:pPr>
              <a:buFont typeface="Arial" panose="020B0604020202020204" pitchFamily="34" charset="0"/>
              <a:buChar char="•"/>
            </a:pPr>
            <a:r>
              <a:rPr lang="tr-TR" sz="1600" b="1" dirty="0"/>
              <a:t>Önemli Eser:</a:t>
            </a:r>
            <a:endParaRPr lang="tr-TR" sz="1600" dirty="0"/>
          </a:p>
          <a:p>
            <a:pPr marL="457200" lvl="1" indent="0">
              <a:buNone/>
            </a:pPr>
            <a:r>
              <a:rPr lang="tr-TR" sz="1600" dirty="0"/>
              <a:t>"Regimen Sanitatis Salernitanum" (Salerno'nun Sağlık Rehberi), sağlık ve hijyen üzerine yazılmış önemli bir metindi. Bu eser, günlük yaşamda sağlık ve hijyen kurallarını içeren pratik bilgiler sundu.</a:t>
            </a:r>
          </a:p>
          <a:p>
            <a:pPr marL="457200" lvl="1" indent="0">
              <a:buNone/>
            </a:pPr>
            <a:r>
              <a:rPr lang="tr-TR" sz="1600" dirty="0"/>
              <a:t>Bu eser, hem Avrupa'da hem de Orta Doğu'da geniş çapta kabul gördü ve kullanıldı. "Regimen Sanitatis Salernitanum", Ortaçağ boyunca sağlık bilincini artırmaya yönelik önemli bir kaynaktı.</a:t>
            </a:r>
          </a:p>
          <a:p>
            <a:endParaRPr lang="tr-TR" sz="1600" dirty="0"/>
          </a:p>
        </p:txBody>
      </p:sp>
    </p:spTree>
    <p:extLst>
      <p:ext uri="{BB962C8B-B14F-4D97-AF65-F5344CB8AC3E}">
        <p14:creationId xmlns:p14="http://schemas.microsoft.com/office/powerpoint/2010/main" val="2274031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F4274310-5608-4D81-BE1C-01E0FD842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314" y="929047"/>
            <a:ext cx="3486150" cy="5442781"/>
          </a:xfrm>
          <a:prstGeom prst="rect">
            <a:avLst/>
          </a:prstGeom>
        </p:spPr>
      </p:pic>
      <p:sp>
        <p:nvSpPr>
          <p:cNvPr id="6" name="Metin kutusu 5">
            <a:extLst>
              <a:ext uri="{FF2B5EF4-FFF2-40B4-BE49-F238E27FC236}">
                <a16:creationId xmlns:a16="http://schemas.microsoft.com/office/drawing/2014/main" id="{4F52375C-04EC-4FEF-98AA-31115D36B51F}"/>
              </a:ext>
            </a:extLst>
          </p:cNvPr>
          <p:cNvSpPr txBox="1"/>
          <p:nvPr/>
        </p:nvSpPr>
        <p:spPr>
          <a:xfrm>
            <a:off x="857251" y="200739"/>
            <a:ext cx="2586038" cy="584775"/>
          </a:xfrm>
          <a:prstGeom prst="rect">
            <a:avLst/>
          </a:prstGeom>
          <a:noFill/>
        </p:spPr>
        <p:txBody>
          <a:bodyPr wrap="square" rtlCol="0">
            <a:spAutoFit/>
          </a:bodyPr>
          <a:lstStyle/>
          <a:p>
            <a:pPr algn="ctr"/>
            <a:r>
              <a:rPr lang="tr-TR" sz="1600" b="1" i="0" dirty="0">
                <a:solidFill>
                  <a:srgbClr val="242B34"/>
                </a:solidFill>
                <a:effectLst/>
              </a:rPr>
              <a:t>Afrikalı Konstantin Salerno okulunda ders veriyor.</a:t>
            </a:r>
            <a:endParaRPr lang="tr-TR" sz="1600" b="1" dirty="0"/>
          </a:p>
        </p:txBody>
      </p:sp>
      <p:pic>
        <p:nvPicPr>
          <p:cNvPr id="12" name="Resim 11">
            <a:extLst>
              <a:ext uri="{FF2B5EF4-FFF2-40B4-BE49-F238E27FC236}">
                <a16:creationId xmlns:a16="http://schemas.microsoft.com/office/drawing/2014/main" id="{24CBE65F-6338-4119-92AE-E6951F54B1C4}"/>
              </a:ext>
            </a:extLst>
          </p:cNvPr>
          <p:cNvPicPr>
            <a:picLocks noChangeAspect="1"/>
          </p:cNvPicPr>
          <p:nvPr/>
        </p:nvPicPr>
        <p:blipFill>
          <a:blip r:embed="rId3"/>
          <a:stretch>
            <a:fillRect/>
          </a:stretch>
        </p:blipFill>
        <p:spPr>
          <a:xfrm>
            <a:off x="8079183" y="929047"/>
            <a:ext cx="3625677" cy="5028802"/>
          </a:xfrm>
          <a:prstGeom prst="rect">
            <a:avLst/>
          </a:prstGeom>
        </p:spPr>
      </p:pic>
      <p:sp>
        <p:nvSpPr>
          <p:cNvPr id="13" name="Metin kutusu 12">
            <a:extLst>
              <a:ext uri="{FF2B5EF4-FFF2-40B4-BE49-F238E27FC236}">
                <a16:creationId xmlns:a16="http://schemas.microsoft.com/office/drawing/2014/main" id="{4BDD6E4C-1B93-411D-9887-5E7CBB169593}"/>
              </a:ext>
            </a:extLst>
          </p:cNvPr>
          <p:cNvSpPr txBox="1"/>
          <p:nvPr/>
        </p:nvSpPr>
        <p:spPr>
          <a:xfrm>
            <a:off x="8543924" y="451248"/>
            <a:ext cx="2790825" cy="338554"/>
          </a:xfrm>
          <a:prstGeom prst="rect">
            <a:avLst/>
          </a:prstGeom>
          <a:noFill/>
        </p:spPr>
        <p:txBody>
          <a:bodyPr wrap="square" rtlCol="0">
            <a:spAutoFit/>
          </a:bodyPr>
          <a:lstStyle/>
          <a:p>
            <a:pPr algn="ctr"/>
            <a:r>
              <a:rPr lang="tr-TR" sz="1600" b="1" dirty="0"/>
              <a:t>Regimen</a:t>
            </a:r>
            <a:r>
              <a:rPr lang="tr-TR" sz="1400" b="1" dirty="0"/>
              <a:t> Sanitatis Salernitanum</a:t>
            </a:r>
          </a:p>
        </p:txBody>
      </p:sp>
      <p:pic>
        <p:nvPicPr>
          <p:cNvPr id="15" name="Resim 14">
            <a:extLst>
              <a:ext uri="{FF2B5EF4-FFF2-40B4-BE49-F238E27FC236}">
                <a16:creationId xmlns:a16="http://schemas.microsoft.com/office/drawing/2014/main" id="{CB8AA9AE-5B6B-44EE-83B4-413F75CCDDDD}"/>
              </a:ext>
            </a:extLst>
          </p:cNvPr>
          <p:cNvPicPr>
            <a:picLocks noChangeAspect="1"/>
          </p:cNvPicPr>
          <p:nvPr/>
        </p:nvPicPr>
        <p:blipFill>
          <a:blip r:embed="rId4"/>
          <a:stretch>
            <a:fillRect/>
          </a:stretch>
        </p:blipFill>
        <p:spPr>
          <a:xfrm>
            <a:off x="4112818" y="1428751"/>
            <a:ext cx="3751563" cy="4352924"/>
          </a:xfrm>
          <a:prstGeom prst="rect">
            <a:avLst/>
          </a:prstGeom>
        </p:spPr>
      </p:pic>
      <p:sp>
        <p:nvSpPr>
          <p:cNvPr id="16" name="Metin kutusu 15">
            <a:extLst>
              <a:ext uri="{FF2B5EF4-FFF2-40B4-BE49-F238E27FC236}">
                <a16:creationId xmlns:a16="http://schemas.microsoft.com/office/drawing/2014/main" id="{662446C9-E8FB-439D-9FBD-5B6D47249B78}"/>
              </a:ext>
            </a:extLst>
          </p:cNvPr>
          <p:cNvSpPr txBox="1"/>
          <p:nvPr/>
        </p:nvSpPr>
        <p:spPr>
          <a:xfrm>
            <a:off x="5228903" y="907048"/>
            <a:ext cx="1734193" cy="338554"/>
          </a:xfrm>
          <a:prstGeom prst="rect">
            <a:avLst/>
          </a:prstGeom>
          <a:noFill/>
        </p:spPr>
        <p:txBody>
          <a:bodyPr wrap="square" rtlCol="0">
            <a:spAutoFit/>
          </a:bodyPr>
          <a:lstStyle/>
          <a:p>
            <a:pPr algn="ctr"/>
            <a:r>
              <a:rPr lang="tr-TR" sz="1600" b="1" dirty="0" err="1"/>
              <a:t>Trota</a:t>
            </a:r>
            <a:r>
              <a:rPr lang="tr-TR" sz="1600" b="1" dirty="0"/>
              <a:t> of Salerno</a:t>
            </a:r>
          </a:p>
        </p:txBody>
      </p:sp>
    </p:spTree>
    <p:extLst>
      <p:ext uri="{BB962C8B-B14F-4D97-AF65-F5344CB8AC3E}">
        <p14:creationId xmlns:p14="http://schemas.microsoft.com/office/powerpoint/2010/main" val="1908199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9B440F-7A40-45BF-813B-876D1439ABA7}"/>
              </a:ext>
            </a:extLst>
          </p:cNvPr>
          <p:cNvSpPr>
            <a:spLocks noGrp="1"/>
          </p:cNvSpPr>
          <p:nvPr>
            <p:ph type="title"/>
          </p:nvPr>
        </p:nvSpPr>
        <p:spPr>
          <a:xfrm>
            <a:off x="0" y="0"/>
            <a:ext cx="3343275" cy="657225"/>
          </a:xfrm>
        </p:spPr>
        <p:txBody>
          <a:bodyPr>
            <a:normAutofit/>
          </a:bodyPr>
          <a:lstStyle/>
          <a:p>
            <a:r>
              <a:rPr lang="nn-NO" sz="2000" b="1" dirty="0">
                <a:latin typeface="+mn-lt"/>
              </a:rPr>
              <a:t>6. Kara Veba ve Halk Sağlığı</a:t>
            </a:r>
            <a:endParaRPr lang="tr-TR" sz="2000" b="1" dirty="0">
              <a:latin typeface="+mn-lt"/>
            </a:endParaRPr>
          </a:p>
        </p:txBody>
      </p:sp>
      <p:sp>
        <p:nvSpPr>
          <p:cNvPr id="4" name="Rectangle 1">
            <a:extLst>
              <a:ext uri="{FF2B5EF4-FFF2-40B4-BE49-F238E27FC236}">
                <a16:creationId xmlns:a16="http://schemas.microsoft.com/office/drawing/2014/main" id="{45FADF11-5C90-4889-A6BC-69CADBB63C0C}"/>
              </a:ext>
            </a:extLst>
          </p:cNvPr>
          <p:cNvSpPr>
            <a:spLocks noGrp="1" noChangeArrowheads="1"/>
          </p:cNvSpPr>
          <p:nvPr>
            <p:ph idx="1"/>
          </p:nvPr>
        </p:nvSpPr>
        <p:spPr bwMode="auto">
          <a:xfrm>
            <a:off x="0" y="860465"/>
            <a:ext cx="11096625" cy="60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rPr>
              <a:t>Kara Veba'nın Yıkıcı Etkisi: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14. yüzyılın ortalarında Avrupa'yı vuran Kara Veba (1347-1351), nüfusun üçte birini öldürdü. Bu salgın, Avrupa'nın sosyal, ekonomik ve kültürel yapısında büyük değişikliklere yol açtı.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Kara Veba, toplumda büyük bir korku ve panik yarattı. Hastalığın hızlı yayılması ve yüksek ölüm oranları, halk sağlığına yönelik acil önlemler alınmasını gerektirdi.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rPr>
              <a:t>Tedbirler ve Karantina Uygulamaları:</a:t>
            </a: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Karantina uygulamaları, hastalığın yayılmasını önlemek için kullanılan en yaygın yöntemlerden biriydi. Venedik, 1348'de hastaların izole edilmesi için ilk karantina istasyonunu kurdu.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Temizlik önlemleri ve hastaların izole edilmesi, salgınla mücadelede önemli rol oynadı. Halk sağlığı yetkilileri, hastalığın yayılmasını kontrol altına almak için çeşitli tedbirler aldı.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rPr>
              <a:t>Halk Sağlığı Gelişmeleri:</a:t>
            </a: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Kara Veba, halk sağlığı alanında yeni yaklaşımların gelişmesine neden oldu. Şehirler, salgınla mücadele etmek için kanalizasyon sistemlerini ve su temini altyapılarını geliştirdiler.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Halk sağlığı yasaları, hastalıkların yayılmasını önlemek için yeni düzenlemeler getirdi. Bu yasalar, temizlik ve hijyenin önemini vurguladı.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rPr>
              <a:t>Doktorların Teorileri ve Çalışmaları:</a:t>
            </a:r>
            <a:endParaRPr kumimoji="0" lang="tr-TR" altLang="tr-T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Doktorlar, hastalıkların doğası ve yayılma biçimi üzerine yeni teoriler geliştirdiler. Bazı doktorlar, hastalığın hava yoluyla bulaştığını öne sürdü ve koruyucu maskeler kullanmaya başladı.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rPr>
              <a:t>Salgının ardından, hastalıkların nedenleri ve tedavi yöntemleri üzerine daha bilimsel yaklaşımlar benimsendi. Bu, tıp biliminde önemli ilerlemelere yol açtı.</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15933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BF85D4-C514-4EC8-B559-9D5AD6828AB4}"/>
              </a:ext>
            </a:extLst>
          </p:cNvPr>
          <p:cNvSpPr>
            <a:spLocks noGrp="1"/>
          </p:cNvSpPr>
          <p:nvPr>
            <p:ph type="title"/>
          </p:nvPr>
        </p:nvSpPr>
        <p:spPr>
          <a:xfrm>
            <a:off x="0" y="123826"/>
            <a:ext cx="3914775" cy="681036"/>
          </a:xfrm>
        </p:spPr>
        <p:txBody>
          <a:bodyPr>
            <a:normAutofit/>
          </a:bodyPr>
          <a:lstStyle/>
          <a:p>
            <a:r>
              <a:rPr lang="es-ES" sz="2000" b="1" dirty="0">
                <a:latin typeface="+mn-lt"/>
              </a:rPr>
              <a:t>7. Cerrahi ve Cerrahların Yükselişi</a:t>
            </a:r>
            <a:endParaRPr lang="tr-TR" sz="2000" b="1" dirty="0">
              <a:latin typeface="+mn-lt"/>
            </a:endParaRPr>
          </a:p>
        </p:txBody>
      </p:sp>
      <p:sp>
        <p:nvSpPr>
          <p:cNvPr id="3" name="İçerik Yer Tutucusu 2">
            <a:extLst>
              <a:ext uri="{FF2B5EF4-FFF2-40B4-BE49-F238E27FC236}">
                <a16:creationId xmlns:a16="http://schemas.microsoft.com/office/drawing/2014/main" id="{8257B6A0-96F0-41E5-9AD0-7337ADFB5314}"/>
              </a:ext>
            </a:extLst>
          </p:cNvPr>
          <p:cNvSpPr>
            <a:spLocks noGrp="1"/>
          </p:cNvSpPr>
          <p:nvPr>
            <p:ph idx="1"/>
          </p:nvPr>
        </p:nvSpPr>
        <p:spPr>
          <a:xfrm>
            <a:off x="0" y="1104899"/>
            <a:ext cx="8629651" cy="5629275"/>
          </a:xfrm>
        </p:spPr>
        <p:txBody>
          <a:bodyPr>
            <a:noAutofit/>
          </a:bodyPr>
          <a:lstStyle/>
          <a:p>
            <a:pPr>
              <a:buFont typeface="Arial" panose="020B0604020202020204" pitchFamily="34" charset="0"/>
              <a:buChar char="•"/>
            </a:pPr>
            <a:r>
              <a:rPr lang="tr-TR" sz="2000" b="1" dirty="0"/>
              <a:t>Cerrahların Kökeni:</a:t>
            </a:r>
            <a:endParaRPr lang="tr-TR" sz="2000" dirty="0"/>
          </a:p>
          <a:p>
            <a:pPr marL="742950" lvl="1" indent="-285750">
              <a:buFont typeface="Arial" panose="020B0604020202020204" pitchFamily="34" charset="0"/>
              <a:buChar char="•"/>
            </a:pPr>
            <a:r>
              <a:rPr lang="tr-TR" sz="2000" dirty="0"/>
              <a:t>Cerrahlar genellikle berberler ve diğer zanaatkarlar arasından çıkıyordu.</a:t>
            </a:r>
          </a:p>
          <a:p>
            <a:pPr marL="742950" lvl="1" indent="-285750">
              <a:buFont typeface="Arial" panose="020B0604020202020204" pitchFamily="34" charset="0"/>
              <a:buChar char="•"/>
            </a:pPr>
            <a:r>
              <a:rPr lang="tr-TR" sz="2000" dirty="0"/>
              <a:t>Cerrahi, zanaatkarların uyguladığı pratik bir meslek olarak kabul ediliyordu.</a:t>
            </a:r>
          </a:p>
          <a:p>
            <a:pPr>
              <a:buFont typeface="Arial" panose="020B0604020202020204" pitchFamily="34" charset="0"/>
              <a:buChar char="•"/>
            </a:pPr>
            <a:r>
              <a:rPr lang="tr-TR" sz="2000" b="1" dirty="0"/>
              <a:t>Ameliyatlar:</a:t>
            </a:r>
            <a:endParaRPr lang="tr-TR" sz="2000" dirty="0"/>
          </a:p>
          <a:p>
            <a:pPr marL="742950" lvl="1" indent="-285750">
              <a:buFont typeface="Arial" panose="020B0604020202020204" pitchFamily="34" charset="0"/>
              <a:buChar char="•"/>
            </a:pPr>
            <a:r>
              <a:rPr lang="tr-TR" sz="2000" dirty="0"/>
              <a:t>Cerrahlar, savaş yaraları, apseler, kırık kemikler ve diğer acil durumlar için ameliyatlar yapıyordu.</a:t>
            </a:r>
          </a:p>
          <a:p>
            <a:pPr marL="742950" lvl="1" indent="-285750">
              <a:buFont typeface="Arial" panose="020B0604020202020204" pitchFamily="34" charset="0"/>
              <a:buChar char="•"/>
            </a:pPr>
            <a:r>
              <a:rPr lang="tr-TR" sz="2000" dirty="0" err="1"/>
              <a:t>Amputasyonlar</a:t>
            </a:r>
            <a:r>
              <a:rPr lang="tr-TR" sz="2000" dirty="0"/>
              <a:t>, </a:t>
            </a:r>
            <a:r>
              <a:rPr lang="tr-TR" sz="2000" dirty="0" err="1"/>
              <a:t>trepanasyon</a:t>
            </a:r>
            <a:r>
              <a:rPr lang="tr-TR" sz="2000" dirty="0"/>
              <a:t> (kafatası delme) ve yara tedavileri yaygın cerrahi müdahalelerdi.</a:t>
            </a:r>
          </a:p>
          <a:p>
            <a:pPr>
              <a:buFont typeface="Arial" panose="020B0604020202020204" pitchFamily="34" charset="0"/>
              <a:buChar char="•"/>
            </a:pPr>
            <a:r>
              <a:rPr lang="tr-TR" sz="2000" b="1" dirty="0"/>
              <a:t>Cerrahi Eğitimi:</a:t>
            </a:r>
            <a:endParaRPr lang="tr-TR" sz="2000" dirty="0"/>
          </a:p>
          <a:p>
            <a:pPr marL="742950" lvl="1" indent="-285750">
              <a:buFont typeface="Arial" panose="020B0604020202020204" pitchFamily="34" charset="0"/>
              <a:buChar char="•"/>
            </a:pPr>
            <a:r>
              <a:rPr lang="tr-TR" sz="2000" dirty="0"/>
              <a:t>13. yüzyılda cerrahlar, daha fazla eğitim ve uzmanlık gerektiren bir meslek haline geldi.</a:t>
            </a:r>
          </a:p>
          <a:p>
            <a:pPr marL="742950" lvl="1" indent="-285750">
              <a:buFont typeface="Arial" panose="020B0604020202020204" pitchFamily="34" charset="0"/>
              <a:buChar char="•"/>
            </a:pPr>
            <a:r>
              <a:rPr lang="tr-TR" sz="2000" dirty="0"/>
              <a:t>İlk cerrahi okullar, cerrahların eğitiminde önemli bir rol oynadı.</a:t>
            </a:r>
          </a:p>
          <a:p>
            <a:pPr>
              <a:buFont typeface="Arial" panose="020B0604020202020204" pitchFamily="34" charset="0"/>
              <a:buChar char="•"/>
            </a:pPr>
            <a:r>
              <a:rPr lang="tr-TR" sz="2000" b="1" dirty="0"/>
              <a:t>Uzmanlık:</a:t>
            </a:r>
            <a:endParaRPr lang="tr-TR" sz="2000" dirty="0"/>
          </a:p>
          <a:p>
            <a:pPr marL="742950" lvl="1" indent="-285750">
              <a:buFont typeface="Arial" panose="020B0604020202020204" pitchFamily="34" charset="0"/>
              <a:buChar char="•"/>
            </a:pPr>
            <a:r>
              <a:rPr lang="tr-TR" sz="2000" dirty="0"/>
              <a:t>Cerrahlar, tıbbi bilgi ve becerilerini geliştirerek daha yetkin hale geldiler.</a:t>
            </a:r>
          </a:p>
          <a:p>
            <a:pPr marL="742950" lvl="1" indent="-285750">
              <a:buFont typeface="Arial" panose="020B0604020202020204" pitchFamily="34" charset="0"/>
              <a:buChar char="•"/>
            </a:pPr>
            <a:r>
              <a:rPr lang="tr-TR" sz="2000" dirty="0"/>
              <a:t>Cerrahi, tıbbın diğer dallarından ayrı bir uzmanlık alanı olarak kabul edildi.</a:t>
            </a:r>
          </a:p>
          <a:p>
            <a:endParaRPr lang="tr-TR" sz="2000" dirty="0"/>
          </a:p>
        </p:txBody>
      </p:sp>
    </p:spTree>
    <p:extLst>
      <p:ext uri="{BB962C8B-B14F-4D97-AF65-F5344CB8AC3E}">
        <p14:creationId xmlns:p14="http://schemas.microsoft.com/office/powerpoint/2010/main" val="3716525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89EC65-42D8-4F40-A9CE-EE1C228FC995}"/>
              </a:ext>
            </a:extLst>
          </p:cNvPr>
          <p:cNvSpPr>
            <a:spLocks noGrp="1"/>
          </p:cNvSpPr>
          <p:nvPr>
            <p:ph type="title"/>
          </p:nvPr>
        </p:nvSpPr>
        <p:spPr>
          <a:xfrm>
            <a:off x="114300" y="150474"/>
            <a:ext cx="2095500" cy="685800"/>
          </a:xfrm>
        </p:spPr>
        <p:txBody>
          <a:bodyPr>
            <a:normAutofit/>
          </a:bodyPr>
          <a:lstStyle/>
          <a:p>
            <a:r>
              <a:rPr lang="tr-TR" sz="2000" b="1" dirty="0">
                <a:latin typeface="+mn-lt"/>
              </a:rPr>
              <a:t>8. Astroloji ve Tıp</a:t>
            </a:r>
          </a:p>
        </p:txBody>
      </p:sp>
      <p:sp>
        <p:nvSpPr>
          <p:cNvPr id="6" name="Rectangle 3">
            <a:extLst>
              <a:ext uri="{FF2B5EF4-FFF2-40B4-BE49-F238E27FC236}">
                <a16:creationId xmlns:a16="http://schemas.microsoft.com/office/drawing/2014/main" id="{0DBFFAA8-D90C-48F6-A63E-94ACFA0A5D0E}"/>
              </a:ext>
            </a:extLst>
          </p:cNvPr>
          <p:cNvSpPr>
            <a:spLocks noGrp="1" noChangeArrowheads="1"/>
          </p:cNvSpPr>
          <p:nvPr>
            <p:ph idx="1"/>
          </p:nvPr>
        </p:nvSpPr>
        <p:spPr bwMode="auto">
          <a:xfrm>
            <a:off x="114299" y="1596262"/>
            <a:ext cx="92297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Astrolojinin Rolü:</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Astroloji, Ortaçağ tıbbında hastalıkların nedenlerini ve tedavi yöntemlerini belirlemek için yaygın olarak kullanılıyordu.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Doktorlar, yıldızların ve gezegenlerin konumlarını dikkate alarak hastalıkların teşhis ve tedavisini yapıyordu.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Astrolojik Takvimler: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Astrolojik takvimler, hangi günlerin ameliyat veya ilaç vermek için uygun olduğunu belirlemek için kullanılıyordu.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Ayın evreleri ve gezegenlerin konumları, tıbbi uygulamalar için önemli kabul ediliyordu.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Doktorların İnançları: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Ortaçağ doktorları, astrolojinin tıbbi uygulamalarda önemli bir rol oynadığına inanıyordu.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Astroloji, hastalıkların tedavisinde kullanılan birçok yöntemin temelini oluşturuyordu.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289027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2669203-0F07-47F2-B770-AD12BF3A962B}"/>
              </a:ext>
            </a:extLst>
          </p:cNvPr>
          <p:cNvSpPr>
            <a:spLocks noGrp="1"/>
          </p:cNvSpPr>
          <p:nvPr>
            <p:ph type="title"/>
          </p:nvPr>
        </p:nvSpPr>
        <p:spPr>
          <a:xfrm>
            <a:off x="0" y="285750"/>
            <a:ext cx="2428875" cy="1019175"/>
          </a:xfrm>
        </p:spPr>
        <p:txBody>
          <a:bodyPr>
            <a:normAutofit/>
          </a:bodyPr>
          <a:lstStyle/>
          <a:p>
            <a:r>
              <a:rPr lang="es-ES" sz="2000" b="1" dirty="0">
                <a:latin typeface="+mn-lt"/>
              </a:rPr>
              <a:t>9. Hac ve Şifa Arayışı</a:t>
            </a:r>
            <a:endParaRPr lang="tr-TR" sz="2000" b="1" dirty="0">
              <a:latin typeface="+mn-lt"/>
            </a:endParaRPr>
          </a:p>
        </p:txBody>
      </p:sp>
      <p:sp>
        <p:nvSpPr>
          <p:cNvPr id="3" name="İçerik Yer Tutucusu 2">
            <a:extLst>
              <a:ext uri="{FF2B5EF4-FFF2-40B4-BE49-F238E27FC236}">
                <a16:creationId xmlns:a16="http://schemas.microsoft.com/office/drawing/2014/main" id="{32561915-A2AB-45B1-ABBF-39D6FDA8FF22}"/>
              </a:ext>
            </a:extLst>
          </p:cNvPr>
          <p:cNvSpPr>
            <a:spLocks noGrp="1"/>
          </p:cNvSpPr>
          <p:nvPr>
            <p:ph idx="1"/>
          </p:nvPr>
        </p:nvSpPr>
        <p:spPr>
          <a:xfrm>
            <a:off x="0" y="1524001"/>
            <a:ext cx="9763124" cy="5429249"/>
          </a:xfrm>
        </p:spPr>
        <p:txBody>
          <a:bodyPr>
            <a:normAutofit/>
          </a:bodyPr>
          <a:lstStyle/>
          <a:p>
            <a:pPr>
              <a:buFont typeface="Arial" panose="020B0604020202020204" pitchFamily="34" charset="0"/>
              <a:buChar char="•"/>
            </a:pPr>
            <a:r>
              <a:rPr lang="tr-TR" sz="2000" b="1" dirty="0"/>
              <a:t>Hac Ziyaretleri:</a:t>
            </a:r>
            <a:endParaRPr lang="tr-TR" sz="2000" dirty="0"/>
          </a:p>
          <a:p>
            <a:pPr marL="742950" lvl="1" indent="-285750">
              <a:buFont typeface="Arial" panose="020B0604020202020204" pitchFamily="34" charset="0"/>
              <a:buChar char="•"/>
            </a:pPr>
            <a:r>
              <a:rPr lang="tr-TR" sz="2000" dirty="0"/>
              <a:t>Hastalar, kutsal yerlerde şifa bulmak umuduyla hac ziyaretlerine çıkardı.</a:t>
            </a:r>
          </a:p>
          <a:p>
            <a:pPr marL="742950" lvl="1" indent="-285750">
              <a:buFont typeface="Arial" panose="020B0604020202020204" pitchFamily="34" charset="0"/>
              <a:buChar char="•"/>
            </a:pPr>
            <a:r>
              <a:rPr lang="tr-TR" sz="2000" dirty="0" err="1"/>
              <a:t>Compostela</a:t>
            </a:r>
            <a:r>
              <a:rPr lang="tr-TR" sz="2000" dirty="0"/>
              <a:t>, Roma ve Kudüs gibi yerler, hac ziyaretlerinin önemli merkezleriydi.</a:t>
            </a:r>
          </a:p>
          <a:p>
            <a:pPr>
              <a:buFont typeface="Arial" panose="020B0604020202020204" pitchFamily="34" charset="0"/>
              <a:buChar char="•"/>
            </a:pPr>
            <a:r>
              <a:rPr lang="tr-TR" sz="2000" b="1" dirty="0" err="1"/>
              <a:t>Reliklerin</a:t>
            </a:r>
            <a:r>
              <a:rPr lang="tr-TR" sz="2000" b="1" dirty="0"/>
              <a:t> Kullanımı:</a:t>
            </a:r>
            <a:endParaRPr lang="tr-TR" sz="2000" dirty="0"/>
          </a:p>
          <a:p>
            <a:pPr marL="742950" lvl="1" indent="-285750">
              <a:buFont typeface="Arial" panose="020B0604020202020204" pitchFamily="34" charset="0"/>
              <a:buChar char="•"/>
            </a:pPr>
            <a:r>
              <a:rPr lang="tr-TR" sz="2000" dirty="0" err="1"/>
              <a:t>Relikler</a:t>
            </a:r>
            <a:r>
              <a:rPr lang="tr-TR" sz="2000" dirty="0"/>
              <a:t> (azizlere ait kalıntılar), şifa bulmak için kullanılan dini objelerdi.</a:t>
            </a:r>
          </a:p>
          <a:p>
            <a:pPr marL="742950" lvl="1" indent="-285750">
              <a:buFont typeface="Arial" panose="020B0604020202020204" pitchFamily="34" charset="0"/>
              <a:buChar char="•"/>
            </a:pPr>
            <a:r>
              <a:rPr lang="tr-TR" sz="2000" dirty="0"/>
              <a:t>Bu objelerin mucizevi iyileştirici güçlere sahip olduğuna inanılırdı.</a:t>
            </a:r>
          </a:p>
          <a:p>
            <a:pPr>
              <a:buFont typeface="Arial" panose="020B0604020202020204" pitchFamily="34" charset="0"/>
              <a:buChar char="•"/>
            </a:pPr>
            <a:r>
              <a:rPr lang="tr-TR" sz="2000" b="1" dirty="0"/>
              <a:t>Dini Ritüeller:</a:t>
            </a:r>
            <a:endParaRPr lang="tr-TR" sz="2000" dirty="0"/>
          </a:p>
          <a:p>
            <a:pPr marL="742950" lvl="1" indent="-285750">
              <a:buFont typeface="Arial" panose="020B0604020202020204" pitchFamily="34" charset="0"/>
              <a:buChar char="•"/>
            </a:pPr>
            <a:r>
              <a:rPr lang="tr-TR" sz="2000" dirty="0"/>
              <a:t>Şifa arayanlar, kiliselerde ve manastırlarda özel dualar ve ritüeller gerçekleştirirdi.</a:t>
            </a:r>
          </a:p>
          <a:p>
            <a:pPr marL="742950" lvl="1" indent="-285750">
              <a:buFont typeface="Arial" panose="020B0604020202020204" pitchFamily="34" charset="0"/>
              <a:buChar char="•"/>
            </a:pPr>
            <a:r>
              <a:rPr lang="tr-TR" sz="2000" dirty="0"/>
              <a:t>Azizlerin yardımını talep etmek için özel törenler düzenlenirdi.</a:t>
            </a:r>
          </a:p>
        </p:txBody>
      </p:sp>
    </p:spTree>
    <p:extLst>
      <p:ext uri="{BB962C8B-B14F-4D97-AF65-F5344CB8AC3E}">
        <p14:creationId xmlns:p14="http://schemas.microsoft.com/office/powerpoint/2010/main" val="323689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D50C248C-AFAE-4C4D-BC5D-68229633623E}"/>
              </a:ext>
            </a:extLst>
          </p:cNvPr>
          <p:cNvPicPr>
            <a:picLocks noChangeAspect="1"/>
          </p:cNvPicPr>
          <p:nvPr/>
        </p:nvPicPr>
        <p:blipFill>
          <a:blip r:embed="rId2"/>
          <a:stretch>
            <a:fillRect/>
          </a:stretch>
        </p:blipFill>
        <p:spPr>
          <a:xfrm>
            <a:off x="3047736" y="1714351"/>
            <a:ext cx="6096528" cy="3429297"/>
          </a:xfrm>
          <a:prstGeom prst="rect">
            <a:avLst/>
          </a:prstGeom>
        </p:spPr>
      </p:pic>
      <p:sp>
        <p:nvSpPr>
          <p:cNvPr id="2" name="Başlık 1">
            <a:extLst>
              <a:ext uri="{FF2B5EF4-FFF2-40B4-BE49-F238E27FC236}">
                <a16:creationId xmlns:a16="http://schemas.microsoft.com/office/drawing/2014/main" id="{58591A40-1C88-42D9-A087-F55B08E48484}"/>
              </a:ext>
            </a:extLst>
          </p:cNvPr>
          <p:cNvSpPr>
            <a:spLocks noGrp="1"/>
          </p:cNvSpPr>
          <p:nvPr>
            <p:ph type="title"/>
          </p:nvPr>
        </p:nvSpPr>
        <p:spPr>
          <a:xfrm>
            <a:off x="0" y="0"/>
            <a:ext cx="10515600" cy="1325563"/>
          </a:xfrm>
        </p:spPr>
        <p:txBody>
          <a:bodyPr>
            <a:normAutofit/>
          </a:bodyPr>
          <a:lstStyle/>
          <a:p>
            <a:r>
              <a:rPr lang="tr-TR" sz="2000" b="1" dirty="0">
                <a:latin typeface="+mn-lt"/>
              </a:rPr>
              <a:t>10.Simya ve Erken Farmakoloji</a:t>
            </a:r>
          </a:p>
        </p:txBody>
      </p:sp>
      <p:sp>
        <p:nvSpPr>
          <p:cNvPr id="6" name="Rectangle 2">
            <a:extLst>
              <a:ext uri="{FF2B5EF4-FFF2-40B4-BE49-F238E27FC236}">
                <a16:creationId xmlns:a16="http://schemas.microsoft.com/office/drawing/2014/main" id="{5AB8848A-6755-4A9B-BF96-F10319268C02}"/>
              </a:ext>
            </a:extLst>
          </p:cNvPr>
          <p:cNvSpPr>
            <a:spLocks noGrp="1" noChangeArrowheads="1"/>
          </p:cNvSpPr>
          <p:nvPr>
            <p:ph idx="1"/>
          </p:nvPr>
        </p:nvSpPr>
        <p:spPr bwMode="auto">
          <a:xfrm>
            <a:off x="123825" y="1743899"/>
            <a:ext cx="836295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Simyanın Rolü:</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Simya, Ortaçağ'da hem felsefi hem de pratik bir disiplin olarak tıpla iç içeydi.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Simyacılar, hastalıkları tedavi etmek için çeşitli kimyasal süreçler ve maddeler kullanırlardı.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Erken İlaçlar:</a:t>
            </a: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Ortaçağ simyacıları, cıva, kükürt ve diğer maddeleri kullanarak ilaçlar üretmeye çalıştılar.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Bu ilaçlar, genellikle hastalıkların tedavisinde deneysel olarak kullanıldı.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rPr>
              <a:t>Paracelsus</a:t>
            </a:r>
            <a:r>
              <a:rPr kumimoji="0" lang="tr-TR" altLang="tr-TR" sz="1800" b="1" i="0" u="none" strike="noStrike" cap="none" normalizeH="0" baseline="0" dirty="0">
                <a:ln>
                  <a:noFill/>
                </a:ln>
                <a:solidFill>
                  <a:schemeClr val="tx1"/>
                </a:solidFill>
                <a:effectLst/>
              </a:rPr>
              <a:t> (1493-1541):</a:t>
            </a:r>
            <a:endParaRPr kumimoji="0" lang="tr-TR" altLang="tr-T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rPr>
              <a:t>Paracelsus</a:t>
            </a:r>
            <a:r>
              <a:rPr kumimoji="0" lang="tr-TR" altLang="tr-TR" sz="1800" b="0" i="0" u="none" strike="noStrike" cap="none" normalizeH="0" baseline="0" dirty="0">
                <a:ln>
                  <a:noFill/>
                </a:ln>
                <a:solidFill>
                  <a:schemeClr val="tx1"/>
                </a:solidFill>
                <a:effectLst/>
              </a:rPr>
              <a:t>, simya ve tıbbı birleştirerek modern farmakolojinin temellerini attı.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rPr>
              <a:t>Kimyasal tedaviler ve ilaçlar üzerine yaptığı çalışmalar, tıpta devrim niteliğinde yenilikler getirdi.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9535843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1514</Words>
  <Application>Microsoft Office PowerPoint</Application>
  <PresentationFormat>Geniş ekran</PresentationFormat>
  <Paragraphs>122</Paragraphs>
  <Slides>11</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Calibri Light</vt:lpstr>
      <vt:lpstr>Office Teması</vt:lpstr>
      <vt:lpstr>Ortaçağ Avrupa'sında Tıp Tarihi</vt:lpstr>
      <vt:lpstr>1. Antik Bilgilerin Mirası</vt:lpstr>
      <vt:lpstr>2. Kilisenin Tıptaki Rolü</vt:lpstr>
      <vt:lpstr>3. İslam Dünyasının Katkıları</vt:lpstr>
      <vt:lpstr>4. Salerno Tıp Okulu</vt:lpstr>
      <vt:lpstr>PowerPoint Sunusu</vt:lpstr>
      <vt:lpstr>6. Kara Veba ve Halk Sağlığı</vt:lpstr>
      <vt:lpstr>7. Cerrahi ve Cerrahların Yükselişi</vt:lpstr>
      <vt:lpstr>8. Astroloji ve Tıp</vt:lpstr>
      <vt:lpstr>9. Hac ve Şifa Arayışı</vt:lpstr>
      <vt:lpstr>10.Simya ve Erken Farmakoloji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Ortaçağ Avrupa'sında Tıp Tarihi</dc:title>
  <dc:creator>Hasan Tetik</dc:creator>
  <cp:lastModifiedBy>Hasan Tetik</cp:lastModifiedBy>
  <cp:revision>8</cp:revision>
  <dcterms:created xsi:type="dcterms:W3CDTF">2024-05-18T02:29:01Z</dcterms:created>
  <dcterms:modified xsi:type="dcterms:W3CDTF">2024-05-18T03:48:51Z</dcterms:modified>
</cp:coreProperties>
</file>